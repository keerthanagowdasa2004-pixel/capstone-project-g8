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71" r:id="rId15"/>
    <p:sldId id="281" r:id="rId16"/>
    <p:sldId id="282" r:id="rId17"/>
    <p:sldId id="274" r:id="rId18"/>
    <p:sldId id="276" r:id="rId19"/>
    <p:sldId id="277" r:id="rId20"/>
    <p:sldId id="278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1E84E-8789-4D36-BB33-E6A5223AD78F}" v="20" dt="2026-04-16T03:50:36.297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S A" userId="dbc4e162cbdba6ff" providerId="LiveId" clId="{8754068D-1422-4F04-A1B4-4394AEFFAF0F}"/>
    <pc:docChg chg="custSel addSld delSld modSld">
      <pc:chgData name="Keerthana S A" userId="dbc4e162cbdba6ff" providerId="LiveId" clId="{8754068D-1422-4F04-A1B4-4394AEFFAF0F}" dt="2026-04-16T03:52:15.251" v="744" actId="20577"/>
      <pc:docMkLst>
        <pc:docMk/>
      </pc:docMkLst>
      <pc:sldChg chg="modSp mod">
        <pc:chgData name="Keerthana S A" userId="dbc4e162cbdba6ff" providerId="LiveId" clId="{8754068D-1422-4F04-A1B4-4394AEFFAF0F}" dt="2026-04-14T13:13:09.142" v="483" actId="20577"/>
        <pc:sldMkLst>
          <pc:docMk/>
          <pc:sldMk cId="3690054074" sldId="256"/>
        </pc:sldMkLst>
        <pc:spChg chg="mod">
          <ac:chgData name="Keerthana S A" userId="dbc4e162cbdba6ff" providerId="LiveId" clId="{8754068D-1422-4F04-A1B4-4394AEFFAF0F}" dt="2026-04-14T13:13:09.142" v="483" actId="20577"/>
          <ac:spMkLst>
            <pc:docMk/>
            <pc:sldMk cId="3690054074" sldId="256"/>
            <ac:spMk id="3" creationId="{E8DDB0F6-E240-299C-56DC-7B563B812A23}"/>
          </ac:spMkLst>
        </pc:spChg>
        <pc:spChg chg="mod">
          <ac:chgData name="Keerthana S A" userId="dbc4e162cbdba6ff" providerId="LiveId" clId="{8754068D-1422-4F04-A1B4-4394AEFFAF0F}" dt="2026-04-14T11:48:20.286" v="98" actId="20577"/>
          <ac:spMkLst>
            <pc:docMk/>
            <pc:sldMk cId="3690054074" sldId="256"/>
            <ac:spMk id="6" creationId="{3B294C5B-8F87-B683-C4BE-4BD6133FF9D8}"/>
          </ac:spMkLst>
        </pc:spChg>
      </pc:sldChg>
      <pc:sldChg chg="addSp delSp modSp mod">
        <pc:chgData name="Keerthana S A" userId="dbc4e162cbdba6ff" providerId="LiveId" clId="{8754068D-1422-4F04-A1B4-4394AEFFAF0F}" dt="2026-04-13T20:18:30.521" v="74" actId="255"/>
        <pc:sldMkLst>
          <pc:docMk/>
          <pc:sldMk cId="4146218616" sldId="257"/>
        </pc:sldMkLst>
        <pc:spChg chg="add mod">
          <ac:chgData name="Keerthana S A" userId="dbc4e162cbdba6ff" providerId="LiveId" clId="{8754068D-1422-4F04-A1B4-4394AEFFAF0F}" dt="2026-04-13T20:18:30.521" v="74" actId="255"/>
          <ac:spMkLst>
            <pc:docMk/>
            <pc:sldMk cId="4146218616" sldId="257"/>
            <ac:spMk id="4" creationId="{D946A0E9-DE1B-CA89-61A6-6940D7D97AF6}"/>
          </ac:spMkLst>
        </pc:spChg>
      </pc:sldChg>
      <pc:sldChg chg="modSp mod">
        <pc:chgData name="Keerthana S A" userId="dbc4e162cbdba6ff" providerId="LiveId" clId="{8754068D-1422-4F04-A1B4-4394AEFFAF0F}" dt="2026-04-14T13:14:25.515" v="484" actId="20577"/>
        <pc:sldMkLst>
          <pc:docMk/>
          <pc:sldMk cId="2454727273" sldId="258"/>
        </pc:sldMkLst>
        <pc:spChg chg="mod">
          <ac:chgData name="Keerthana S A" userId="dbc4e162cbdba6ff" providerId="LiveId" clId="{8754068D-1422-4F04-A1B4-4394AEFFAF0F}" dt="2026-04-14T13:14:25.515" v="484" actId="20577"/>
          <ac:spMkLst>
            <pc:docMk/>
            <pc:sldMk cId="2454727273" sldId="258"/>
            <ac:spMk id="3" creationId="{2D4AE39A-37E9-F462-0AB9-DF992DF02E33}"/>
          </ac:spMkLst>
        </pc:spChg>
      </pc:sldChg>
      <pc:sldChg chg="modSp mod">
        <pc:chgData name="Keerthana S A" userId="dbc4e162cbdba6ff" providerId="LiveId" clId="{8754068D-1422-4F04-A1B4-4394AEFFAF0F}" dt="2026-04-14T11:52:51.692" v="106" actId="20577"/>
        <pc:sldMkLst>
          <pc:docMk/>
          <pc:sldMk cId="3336742863" sldId="259"/>
        </pc:sldMkLst>
        <pc:spChg chg="mod">
          <ac:chgData name="Keerthana S A" userId="dbc4e162cbdba6ff" providerId="LiveId" clId="{8754068D-1422-4F04-A1B4-4394AEFFAF0F}" dt="2026-04-14T11:52:51.692" v="106" actId="20577"/>
          <ac:spMkLst>
            <pc:docMk/>
            <pc:sldMk cId="3336742863" sldId="259"/>
            <ac:spMk id="3" creationId="{CC5779F0-D13D-12B6-AFF9-1A385FB4D365}"/>
          </ac:spMkLst>
        </pc:spChg>
      </pc:sldChg>
      <pc:sldChg chg="modSp mod">
        <pc:chgData name="Keerthana S A" userId="dbc4e162cbdba6ff" providerId="LiveId" clId="{8754068D-1422-4F04-A1B4-4394AEFFAF0F}" dt="2026-04-14T11:52:43.229" v="102" actId="20577"/>
        <pc:sldMkLst>
          <pc:docMk/>
          <pc:sldMk cId="4047545340" sldId="261"/>
        </pc:sldMkLst>
        <pc:spChg chg="mod">
          <ac:chgData name="Keerthana S A" userId="dbc4e162cbdba6ff" providerId="LiveId" clId="{8754068D-1422-4F04-A1B4-4394AEFFAF0F}" dt="2026-04-14T11:52:43.229" v="102" actId="20577"/>
          <ac:spMkLst>
            <pc:docMk/>
            <pc:sldMk cId="4047545340" sldId="261"/>
            <ac:spMk id="2" creationId="{4779810D-27B1-B4ED-3A02-2D5D4DAF6235}"/>
          </ac:spMkLst>
        </pc:spChg>
      </pc:sldChg>
      <pc:sldChg chg="modSp mod">
        <pc:chgData name="Keerthana S A" userId="dbc4e162cbdba6ff" providerId="LiveId" clId="{8754068D-1422-4F04-A1B4-4394AEFFAF0F}" dt="2026-04-14T11:53:17.087" v="118" actId="20577"/>
        <pc:sldMkLst>
          <pc:docMk/>
          <pc:sldMk cId="2797901706" sldId="262"/>
        </pc:sldMkLst>
        <pc:spChg chg="mod">
          <ac:chgData name="Keerthana S A" userId="dbc4e162cbdba6ff" providerId="LiveId" clId="{8754068D-1422-4F04-A1B4-4394AEFFAF0F}" dt="2026-04-14T11:53:17.087" v="118" actId="20577"/>
          <ac:spMkLst>
            <pc:docMk/>
            <pc:sldMk cId="2797901706" sldId="262"/>
            <ac:spMk id="3" creationId="{27F21D8D-6CFC-4FFB-75E4-9628CB1E9B69}"/>
          </ac:spMkLst>
        </pc:spChg>
      </pc:sldChg>
      <pc:sldChg chg="modSp mod">
        <pc:chgData name="Keerthana S A" userId="dbc4e162cbdba6ff" providerId="LiveId" clId="{8754068D-1422-4F04-A1B4-4394AEFFAF0F}" dt="2026-04-13T17:55:43.295" v="29" actId="1036"/>
        <pc:sldMkLst>
          <pc:docMk/>
          <pc:sldMk cId="3209450986" sldId="263"/>
        </pc:sldMkLst>
        <pc:graphicFrameChg chg="mod modGraphic">
          <ac:chgData name="Keerthana S A" userId="dbc4e162cbdba6ff" providerId="LiveId" clId="{8754068D-1422-4F04-A1B4-4394AEFFAF0F}" dt="2026-04-13T17:55:43.295" v="29" actId="1036"/>
          <ac:graphicFrameMkLst>
            <pc:docMk/>
            <pc:sldMk cId="3209450986" sldId="263"/>
            <ac:graphicFrameMk id="2" creationId="{4A52489E-0311-250C-30ED-C115CF1EF51A}"/>
          </ac:graphicFrameMkLst>
        </pc:graphicFrameChg>
      </pc:sldChg>
      <pc:sldChg chg="modSp mod">
        <pc:chgData name="Keerthana S A" userId="dbc4e162cbdba6ff" providerId="LiveId" clId="{8754068D-1422-4F04-A1B4-4394AEFFAF0F}" dt="2026-04-13T17:57:23.036" v="36" actId="20577"/>
        <pc:sldMkLst>
          <pc:docMk/>
          <pc:sldMk cId="3934628092" sldId="265"/>
        </pc:sldMkLst>
        <pc:spChg chg="mod">
          <ac:chgData name="Keerthana S A" userId="dbc4e162cbdba6ff" providerId="LiveId" clId="{8754068D-1422-4F04-A1B4-4394AEFFAF0F}" dt="2026-04-13T17:56:03.059" v="31" actId="14100"/>
          <ac:spMkLst>
            <pc:docMk/>
            <pc:sldMk cId="3934628092" sldId="265"/>
            <ac:spMk id="2" creationId="{2D1ED65E-5062-E77A-7A69-C896B3AF3774}"/>
          </ac:spMkLst>
        </pc:spChg>
        <pc:spChg chg="mod">
          <ac:chgData name="Keerthana S A" userId="dbc4e162cbdba6ff" providerId="LiveId" clId="{8754068D-1422-4F04-A1B4-4394AEFFAF0F}" dt="2026-04-13T17:57:23.036" v="36" actId="20577"/>
          <ac:spMkLst>
            <pc:docMk/>
            <pc:sldMk cId="3934628092" sldId="265"/>
            <ac:spMk id="3" creationId="{533FA78E-7931-797F-FA0D-096C07D12560}"/>
          </ac:spMkLst>
        </pc:spChg>
      </pc:sldChg>
      <pc:sldChg chg="modSp mod">
        <pc:chgData name="Keerthana S A" userId="dbc4e162cbdba6ff" providerId="LiveId" clId="{8754068D-1422-4F04-A1B4-4394AEFFAF0F}" dt="2026-04-13T18:07:15.049" v="57" actId="20577"/>
        <pc:sldMkLst>
          <pc:docMk/>
          <pc:sldMk cId="1187531350" sldId="266"/>
        </pc:sldMkLst>
        <pc:graphicFrameChg chg="modGraphic">
          <ac:chgData name="Keerthana S A" userId="dbc4e162cbdba6ff" providerId="LiveId" clId="{8754068D-1422-4F04-A1B4-4394AEFFAF0F}" dt="2026-04-13T18:07:15.049" v="57" actId="20577"/>
          <ac:graphicFrameMkLst>
            <pc:docMk/>
            <pc:sldMk cId="1187531350" sldId="266"/>
            <ac:graphicFrameMk id="20" creationId="{70CDFE90-85C3-8729-2DCF-E678ECB48EB6}"/>
          </ac:graphicFrameMkLst>
        </pc:graphicFrameChg>
      </pc:sldChg>
      <pc:sldChg chg="modSp mod">
        <pc:chgData name="Keerthana S A" userId="dbc4e162cbdba6ff" providerId="LiveId" clId="{8754068D-1422-4F04-A1B4-4394AEFFAF0F}" dt="2026-04-14T16:36:04.494" v="495" actId="1076"/>
        <pc:sldMkLst>
          <pc:docMk/>
          <pc:sldMk cId="2295468531" sldId="267"/>
        </pc:sldMkLst>
        <pc:spChg chg="mod">
          <ac:chgData name="Keerthana S A" userId="dbc4e162cbdba6ff" providerId="LiveId" clId="{8754068D-1422-4F04-A1B4-4394AEFFAF0F}" dt="2026-04-14T16:36:04.494" v="495" actId="1076"/>
          <ac:spMkLst>
            <pc:docMk/>
            <pc:sldMk cId="2295468531" sldId="267"/>
            <ac:spMk id="2" creationId="{51B93C93-855D-5F6E-B910-BC6908ED06C8}"/>
          </ac:spMkLst>
        </pc:spChg>
      </pc:sldChg>
      <pc:sldChg chg="addSp delSp modSp mod">
        <pc:chgData name="Keerthana S A" userId="dbc4e162cbdba6ff" providerId="LiveId" clId="{8754068D-1422-4F04-A1B4-4394AEFFAF0F}" dt="2026-04-14T16:40:52.146" v="572" actId="20577"/>
        <pc:sldMkLst>
          <pc:docMk/>
          <pc:sldMk cId="1145310173" sldId="268"/>
        </pc:sldMkLst>
        <pc:spChg chg="mod">
          <ac:chgData name="Keerthana S A" userId="dbc4e162cbdba6ff" providerId="LiveId" clId="{8754068D-1422-4F04-A1B4-4394AEFFAF0F}" dt="2026-04-14T16:40:52.146" v="572" actId="20577"/>
          <ac:spMkLst>
            <pc:docMk/>
            <pc:sldMk cId="1145310173" sldId="268"/>
            <ac:spMk id="5" creationId="{FA773B7D-D9AC-F8C8-6E7A-8C013B260752}"/>
          </ac:spMkLst>
        </pc:spChg>
      </pc:sldChg>
      <pc:sldChg chg="delSp modSp mod">
        <pc:chgData name="Keerthana S A" userId="dbc4e162cbdba6ff" providerId="LiveId" clId="{8754068D-1422-4F04-A1B4-4394AEFFAF0F}" dt="2026-04-14T16:42:12.536" v="579" actId="14100"/>
        <pc:sldMkLst>
          <pc:docMk/>
          <pc:sldMk cId="3320673099" sldId="271"/>
        </pc:sldMkLst>
        <pc:spChg chg="mod">
          <ac:chgData name="Keerthana S A" userId="dbc4e162cbdba6ff" providerId="LiveId" clId="{8754068D-1422-4F04-A1B4-4394AEFFAF0F}" dt="2026-04-14T16:42:12.536" v="579" actId="14100"/>
          <ac:spMkLst>
            <pc:docMk/>
            <pc:sldMk cId="3320673099" sldId="271"/>
            <ac:spMk id="2" creationId="{252B06DA-37B1-2CB7-43B0-BFC6E4C2BFFF}"/>
          </ac:spMkLst>
        </pc:spChg>
      </pc:sldChg>
      <pc:sldChg chg="addSp delSp modSp mod">
        <pc:chgData name="Keerthana S A" userId="dbc4e162cbdba6ff" providerId="LiveId" clId="{8754068D-1422-4F04-A1B4-4394AEFFAF0F}" dt="2026-04-16T03:52:15.251" v="744" actId="20577"/>
        <pc:sldMkLst>
          <pc:docMk/>
          <pc:sldMk cId="2279669875" sldId="274"/>
        </pc:sldMkLst>
        <pc:spChg chg="del mod">
          <ac:chgData name="Keerthana S A" userId="dbc4e162cbdba6ff" providerId="LiveId" clId="{8754068D-1422-4F04-A1B4-4394AEFFAF0F}" dt="2026-04-16T03:50:16.809" v="730" actId="478"/>
          <ac:spMkLst>
            <pc:docMk/>
            <pc:sldMk cId="2279669875" sldId="274"/>
            <ac:spMk id="2" creationId="{A1D8D2BA-868A-364F-6BEF-1093AE369851}"/>
          </ac:spMkLst>
        </pc:spChg>
        <pc:spChg chg="del mod">
          <ac:chgData name="Keerthana S A" userId="dbc4e162cbdba6ff" providerId="LiveId" clId="{8754068D-1422-4F04-A1B4-4394AEFFAF0F}" dt="2026-04-16T03:50:20.062" v="732" actId="478"/>
          <ac:spMkLst>
            <pc:docMk/>
            <pc:sldMk cId="2279669875" sldId="274"/>
            <ac:spMk id="3" creationId="{1CAB6050-7BD1-6EF3-6865-AA0A8BC677E5}"/>
          </ac:spMkLst>
        </pc:spChg>
        <pc:spChg chg="add mod">
          <ac:chgData name="Keerthana S A" userId="dbc4e162cbdba6ff" providerId="LiveId" clId="{8754068D-1422-4F04-A1B4-4394AEFFAF0F}" dt="2026-04-16T03:52:15.251" v="744" actId="20577"/>
          <ac:spMkLst>
            <pc:docMk/>
            <pc:sldMk cId="2279669875" sldId="274"/>
            <ac:spMk id="5" creationId="{96B6A886-D9E9-332F-6DE4-A14A17600D35}"/>
          </ac:spMkLst>
        </pc:spChg>
      </pc:sldChg>
      <pc:sldChg chg="modSp mod">
        <pc:chgData name="Keerthana S A" userId="dbc4e162cbdba6ff" providerId="LiveId" clId="{8754068D-1422-4F04-A1B4-4394AEFFAF0F}" dt="2026-04-14T11:47:27.898" v="75" actId="20577"/>
        <pc:sldMkLst>
          <pc:docMk/>
          <pc:sldMk cId="2801336066" sldId="277"/>
        </pc:sldMkLst>
        <pc:spChg chg="mod">
          <ac:chgData name="Keerthana S A" userId="dbc4e162cbdba6ff" providerId="LiveId" clId="{8754068D-1422-4F04-A1B4-4394AEFFAF0F}" dt="2026-04-13T18:25:16.693" v="63" actId="1076"/>
          <ac:spMkLst>
            <pc:docMk/>
            <pc:sldMk cId="2801336066" sldId="277"/>
            <ac:spMk id="4" creationId="{959A742E-41A5-1AE3-9E61-2AE57A872576}"/>
          </ac:spMkLst>
        </pc:spChg>
        <pc:spChg chg="mod">
          <ac:chgData name="Keerthana S A" userId="dbc4e162cbdba6ff" providerId="LiveId" clId="{8754068D-1422-4F04-A1B4-4394AEFFAF0F}" dt="2026-04-13T18:25:43.528" v="64" actId="15"/>
          <ac:spMkLst>
            <pc:docMk/>
            <pc:sldMk cId="2801336066" sldId="277"/>
            <ac:spMk id="6" creationId="{AF8B2B9C-DDFC-A3B1-682C-CF6487E19B5A}"/>
          </ac:spMkLst>
        </pc:spChg>
        <pc:spChg chg="mod">
          <ac:chgData name="Keerthana S A" userId="dbc4e162cbdba6ff" providerId="LiveId" clId="{8754068D-1422-4F04-A1B4-4394AEFFAF0F}" dt="2026-04-14T11:47:27.898" v="75" actId="20577"/>
          <ac:spMkLst>
            <pc:docMk/>
            <pc:sldMk cId="2801336066" sldId="277"/>
            <ac:spMk id="10" creationId="{F1F2F3E8-B456-E09B-6090-C4E490D8FFA9}"/>
          </ac:spMkLst>
        </pc:spChg>
      </pc:sldChg>
      <pc:sldChg chg="modSp mod">
        <pc:chgData name="Keerthana S A" userId="dbc4e162cbdba6ff" providerId="LiveId" clId="{8754068D-1422-4F04-A1B4-4394AEFFAF0F}" dt="2026-04-14T11:53:59.356" v="129" actId="20577"/>
        <pc:sldMkLst>
          <pc:docMk/>
          <pc:sldMk cId="2537771261" sldId="278"/>
        </pc:sldMkLst>
        <pc:spChg chg="mod">
          <ac:chgData name="Keerthana S A" userId="dbc4e162cbdba6ff" providerId="LiveId" clId="{8754068D-1422-4F04-A1B4-4394AEFFAF0F}" dt="2026-04-14T11:53:59.356" v="129" actId="20577"/>
          <ac:spMkLst>
            <pc:docMk/>
            <pc:sldMk cId="2537771261" sldId="278"/>
            <ac:spMk id="8" creationId="{8420380E-4BC3-1F99-DA02-DF24DDDB3980}"/>
          </ac:spMkLst>
        </pc:spChg>
      </pc:sldChg>
      <pc:sldChg chg="delSp modSp mod">
        <pc:chgData name="Keerthana S A" userId="dbc4e162cbdba6ff" providerId="LiveId" clId="{8754068D-1422-4F04-A1B4-4394AEFFAF0F}" dt="2026-04-14T11:57:24.093" v="347" actId="20577"/>
        <pc:sldMkLst>
          <pc:docMk/>
          <pc:sldMk cId="3634677523" sldId="280"/>
        </pc:sldMkLst>
        <pc:spChg chg="mod">
          <ac:chgData name="Keerthana S A" userId="dbc4e162cbdba6ff" providerId="LiveId" clId="{8754068D-1422-4F04-A1B4-4394AEFFAF0F}" dt="2026-04-14T11:57:24.093" v="347" actId="20577"/>
          <ac:spMkLst>
            <pc:docMk/>
            <pc:sldMk cId="3634677523" sldId="280"/>
            <ac:spMk id="13" creationId="{C835FEE9-5B98-AC5C-EB47-357098E610C3}"/>
          </ac:spMkLst>
        </pc:spChg>
      </pc:sldChg>
      <pc:sldChg chg="addSp modSp new mod">
        <pc:chgData name="Keerthana S A" userId="dbc4e162cbdba6ff" providerId="LiveId" clId="{8754068D-1422-4F04-A1B4-4394AEFFAF0F}" dt="2026-04-14T16:42:05.453" v="578" actId="14100"/>
        <pc:sldMkLst>
          <pc:docMk/>
          <pc:sldMk cId="987119436" sldId="281"/>
        </pc:sldMkLst>
        <pc:spChg chg="add mod">
          <ac:chgData name="Keerthana S A" userId="dbc4e162cbdba6ff" providerId="LiveId" clId="{8754068D-1422-4F04-A1B4-4394AEFFAF0F}" dt="2026-04-14T16:42:05.453" v="578" actId="14100"/>
          <ac:spMkLst>
            <pc:docMk/>
            <pc:sldMk cId="987119436" sldId="281"/>
            <ac:spMk id="3" creationId="{A596D922-3073-9A42-5C1E-655EF4B4AD82}"/>
          </ac:spMkLst>
        </pc:spChg>
      </pc:sldChg>
      <pc:sldChg chg="addSp modSp new mod">
        <pc:chgData name="Keerthana S A" userId="dbc4e162cbdba6ff" providerId="LiveId" clId="{8754068D-1422-4F04-A1B4-4394AEFFAF0F}" dt="2026-04-14T16:42:56.662" v="583" actId="1076"/>
        <pc:sldMkLst>
          <pc:docMk/>
          <pc:sldMk cId="4179043554" sldId="282"/>
        </pc:sldMkLst>
        <pc:spChg chg="add mod">
          <ac:chgData name="Keerthana S A" userId="dbc4e162cbdba6ff" providerId="LiveId" clId="{8754068D-1422-4F04-A1B4-4394AEFFAF0F}" dt="2026-04-14T16:42:56.662" v="583" actId="1076"/>
          <ac:spMkLst>
            <pc:docMk/>
            <pc:sldMk cId="4179043554" sldId="282"/>
            <ac:spMk id="2" creationId="{90250FDD-619C-4DD4-8A75-4041B3EC68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7BD3DE-189F-46CD-83E1-521F3FE17063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C92515-8B20-4C03-BA2F-5E19ECE5C1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9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92515-8B20-4C03-BA2F-5E19ECE5C16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6448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C92515-8B20-4C03-BA2F-5E19ECE5C16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970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8846-8123-9B9D-A64F-DC731C09C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1485274"/>
            <a:ext cx="8361229" cy="2628924"/>
          </a:xfrm>
        </p:spPr>
        <p:txBody>
          <a:bodyPr/>
          <a:lstStyle/>
          <a:p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University of agricultural sciences,banglore-560065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College of Agriculture, GKVK 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EAI-421: AI &amp; ML in Agriculture (0+10)</a:t>
            </a:r>
            <a:endParaRPr lang="en-IN" sz="2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DB0F6-E240-299C-56DC-7B563B812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2677" y="4195651"/>
            <a:ext cx="6831673" cy="1086237"/>
          </a:xfrm>
        </p:spPr>
        <p:txBody>
          <a:bodyPr/>
          <a:lstStyle/>
          <a:p>
            <a:r>
              <a:rPr lang="en-IN" dirty="0"/>
              <a:t>PROJECT TITLE – APPLICATION OF AI&amp;ML FOR GROUNDWATER QUALITY ANALYSIS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94C5B-8F87-B683-C4BE-4BD6133FF9D8}"/>
              </a:ext>
            </a:extLst>
          </p:cNvPr>
          <p:cNvSpPr txBox="1"/>
          <p:nvPr/>
        </p:nvSpPr>
        <p:spPr>
          <a:xfrm>
            <a:off x="9116833" y="4738770"/>
            <a:ext cx="18264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 NO-AMB2084</a:t>
            </a:r>
          </a:p>
          <a:p>
            <a:r>
              <a:rPr lang="en-IN" dirty="0"/>
              <a:t>           AMB2104</a:t>
            </a:r>
          </a:p>
          <a:p>
            <a:r>
              <a:rPr lang="en-IN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369005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1A3542-93C9-774E-6B0E-F4324EBC1762}"/>
              </a:ext>
            </a:extLst>
          </p:cNvPr>
          <p:cNvSpPr txBox="1"/>
          <p:nvPr/>
        </p:nvSpPr>
        <p:spPr>
          <a:xfrm>
            <a:off x="963561" y="269290"/>
            <a:ext cx="2644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6A0E9-DE1B-CA89-61A6-6940D7D97AF6}"/>
              </a:ext>
            </a:extLst>
          </p:cNvPr>
          <p:cNvSpPr txBox="1"/>
          <p:nvPr/>
        </p:nvSpPr>
        <p:spPr>
          <a:xfrm>
            <a:off x="1091381" y="1409865"/>
            <a:ext cx="6096000" cy="4224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</a:rPr>
              <a:t>•</a:t>
            </a:r>
            <a:r>
              <a:rPr lang="en-US" sz="2400" dirty="0">
                <a:solidFill>
                  <a:schemeClr val="dk1"/>
                </a:solidFill>
              </a:rPr>
              <a:t>Introduction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•Problem Statement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•Motivation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•Objectives of the project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•Dataset Overview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•Methodology/approach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•Tools and Technologies Used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•Results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•Discussion / Analysis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2400" dirty="0">
                <a:solidFill>
                  <a:schemeClr val="dk1"/>
                </a:solidFill>
              </a:rPr>
              <a:t>•Conclusion and Future Work</a:t>
            </a: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523"/>
              <a:buNone/>
            </a:pPr>
            <a:r>
              <a:rPr lang="en-US" sz="2400" dirty="0">
                <a:solidFill>
                  <a:schemeClr val="dk1"/>
                </a:solidFill>
              </a:rPr>
              <a:t>•References/Acknowledgements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621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F08CB1-D2D1-0B73-6BFA-5A8C0328DF71}"/>
              </a:ext>
            </a:extLst>
          </p:cNvPr>
          <p:cNvSpPr txBox="1"/>
          <p:nvPr/>
        </p:nvSpPr>
        <p:spPr>
          <a:xfrm>
            <a:off x="1347019" y="530942"/>
            <a:ext cx="317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INTRODUCTION</a:t>
            </a:r>
            <a:endParaRPr lang="en-IN" sz="36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AE39A-37E9-F462-0AB9-DF992DF02E33}"/>
              </a:ext>
            </a:extLst>
          </p:cNvPr>
          <p:cNvSpPr txBox="1"/>
          <p:nvPr/>
        </p:nvSpPr>
        <p:spPr>
          <a:xfrm>
            <a:off x="758380" y="1657977"/>
            <a:ext cx="1114718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1200"/>
              </a:spcAft>
            </a:pPr>
            <a:r>
              <a:rPr lang="en-US" sz="2400" dirty="0"/>
              <a:t>Groundwater is a critical resource for drinking, irrigation, and industrial applications, but its quality is increasingly impacted by natural processes and human activities.</a:t>
            </a:r>
          </a:p>
          <a:p>
            <a:pPr lvl="0">
              <a:spcAft>
                <a:spcPts val="1200"/>
              </a:spcAft>
            </a:pPr>
            <a:r>
              <a:rPr lang="en-US" sz="2400" dirty="0"/>
              <a:t>Timely and accurate assessment of groundwater quality is essential for sustainable management. </a:t>
            </a:r>
          </a:p>
          <a:p>
            <a:pPr lvl="0">
              <a:spcAft>
                <a:spcPts val="1200"/>
              </a:spcAft>
            </a:pPr>
            <a:r>
              <a:rPr lang="en-US" sz="2400" dirty="0"/>
              <a:t>This capstone project presents the development of an Artificial Intelligence (AI) and Machine Learning (ML)-based system to analyze and predict groundwater quality using real-world datasets, enhancing the efficiency of traditional evaluation methods.</a:t>
            </a:r>
          </a:p>
          <a:p>
            <a:pPr lvl="0">
              <a:spcAft>
                <a:spcPts val="12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4727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B29FA-C5FE-B109-696E-D3705D80358B}"/>
              </a:ext>
            </a:extLst>
          </p:cNvPr>
          <p:cNvSpPr txBox="1"/>
          <p:nvPr/>
        </p:nvSpPr>
        <p:spPr>
          <a:xfrm>
            <a:off x="1238865" y="373626"/>
            <a:ext cx="4557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/>
              <a:t>PROBLEM STATEMENT</a:t>
            </a:r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5779F0-D13D-12B6-AFF9-1A385FB4D365}"/>
              </a:ext>
            </a:extLst>
          </p:cNvPr>
          <p:cNvSpPr txBox="1"/>
          <p:nvPr/>
        </p:nvSpPr>
        <p:spPr>
          <a:xfrm>
            <a:off x="1238864" y="1263445"/>
            <a:ext cx="868188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Groundwater quality assessment is crucial for safe drinking water and agriculture.</a:t>
            </a:r>
          </a:p>
          <a:p>
            <a:r>
              <a:rPr lang="en-US" sz="2400" dirty="0"/>
              <a:t>- Traditional methods are time-consuming, costly, and lack real-time insights.</a:t>
            </a:r>
          </a:p>
          <a:p>
            <a:r>
              <a:rPr lang="en-US" sz="2400" dirty="0"/>
              <a:t>- 2024 data shows variations in pH, EC, TDS, hardness, indicating health and productivity risks.</a:t>
            </a:r>
          </a:p>
          <a:p>
            <a:r>
              <a:rPr lang="en-US" sz="2400" dirty="0"/>
              <a:t>- Need for efficient, accurate, and scalable AI-driven system to predict water quality.</a:t>
            </a:r>
          </a:p>
          <a:p>
            <a:endParaRPr lang="en-US" sz="2400" dirty="0"/>
          </a:p>
          <a:p>
            <a:r>
              <a:rPr lang="en-US" sz="2800" b="1" dirty="0"/>
              <a:t>Project Goal</a:t>
            </a:r>
          </a:p>
          <a:p>
            <a:r>
              <a:rPr lang="en-US" sz="2400" dirty="0"/>
              <a:t>- Develop ML model to classify groundwater as safe/unsafe, improving prediction accuracy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33674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5380-66C6-7AEC-4779-C9558852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D1A69-460B-ABF7-1434-C4923DAACCED}"/>
              </a:ext>
            </a:extLst>
          </p:cNvPr>
          <p:cNvSpPr txBox="1"/>
          <p:nvPr/>
        </p:nvSpPr>
        <p:spPr>
          <a:xfrm>
            <a:off x="1337187" y="294967"/>
            <a:ext cx="2557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MOTIVATION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A0F2D-CDC2-5835-9214-7CB1448827FA}"/>
              </a:ext>
            </a:extLst>
          </p:cNvPr>
          <p:cNvSpPr txBox="1"/>
          <p:nvPr/>
        </p:nvSpPr>
        <p:spPr>
          <a:xfrm>
            <a:off x="1258529" y="1157608"/>
            <a:ext cx="64499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 dirty="0">
                <a:solidFill>
                  <a:schemeClr val="dk2"/>
                </a:solidFill>
              </a:rPr>
              <a:t> Importance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Ensures safe drinking water (health risks: fluoride, arsenic, nitrate)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Protects agriculture productivity &amp; soil health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Addresses India's water scarcity &amp; stress</a:t>
            </a:r>
          </a:p>
          <a:p>
            <a:pPr lvl="0">
              <a:buClr>
                <a:schemeClr val="dk1"/>
              </a:buClr>
              <a:buSzPts val="1100"/>
            </a:pPr>
            <a:endParaRPr lang="en-US" sz="2400" dirty="0">
              <a:solidFill>
                <a:schemeClr val="dk2"/>
              </a:solidFill>
            </a:endParaRPr>
          </a:p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 dirty="0">
                <a:solidFill>
                  <a:schemeClr val="dk2"/>
                </a:solidFill>
              </a:rPr>
              <a:t>Practical Applications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Precision irrigation &amp; crop selection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Early contamination alerts for farmers</a:t>
            </a:r>
          </a:p>
          <a:p>
            <a:pPr lvl="0"/>
            <a:r>
              <a:rPr lang="en-US" sz="2400" dirty="0">
                <a:solidFill>
                  <a:schemeClr val="dk2"/>
                </a:solidFill>
              </a:rPr>
              <a:t>- Informed policy &amp; remediation efforts</a:t>
            </a:r>
          </a:p>
          <a:p>
            <a:pPr lvl="0"/>
            <a:endParaRPr lang="en-US" sz="2400" dirty="0">
              <a:solidFill>
                <a:schemeClr val="dk2"/>
              </a:solidFill>
            </a:endParaRPr>
          </a:p>
          <a:p>
            <a:pPr marL="457200" lvl="0" indent="-342900">
              <a:buClr>
                <a:schemeClr val="dk2"/>
              </a:buClr>
              <a:buSzPts val="1800"/>
              <a:buChar char="●"/>
            </a:pPr>
            <a:r>
              <a:rPr lang="en-US" sz="2400" dirty="0">
                <a:solidFill>
                  <a:schemeClr val="dk2"/>
                </a:solidFill>
              </a:rPr>
              <a:t>Relevance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Supports Clean Water</a:t>
            </a:r>
          </a:p>
          <a:p>
            <a:pPr lvl="0"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2"/>
                </a:solidFill>
              </a:rPr>
              <a:t>- water management, </a:t>
            </a:r>
            <a:r>
              <a:rPr lang="en-US" sz="2400" dirty="0" err="1">
                <a:solidFill>
                  <a:schemeClr val="dk2"/>
                </a:solidFill>
              </a:rPr>
              <a:t>agri</a:t>
            </a:r>
            <a:r>
              <a:rPr lang="en-US" sz="2400" dirty="0">
                <a:solidFill>
                  <a:schemeClr val="dk2"/>
                </a:solidFill>
              </a:rPr>
              <a:t>-tech,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4877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79810D-27B1-B4ED-3A02-2D5D4DAF6235}"/>
              </a:ext>
            </a:extLst>
          </p:cNvPr>
          <p:cNvSpPr txBox="1"/>
          <p:nvPr/>
        </p:nvSpPr>
        <p:spPr>
          <a:xfrm>
            <a:off x="1110181" y="393506"/>
            <a:ext cx="998060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OBJECTIVES</a:t>
            </a:r>
          </a:p>
          <a:p>
            <a:endParaRPr lang="en-US" sz="3600" b="1" dirty="0"/>
          </a:p>
          <a:p>
            <a:r>
              <a:rPr lang="en-US" sz="2400" b="1" dirty="0"/>
              <a:t>01.  </a:t>
            </a:r>
            <a:r>
              <a:rPr lang="en-US" sz="2400" dirty="0"/>
              <a:t>To analyze the 2024 post-monsoon groundwater quality dataset and understand variations in key physicochemical parameters such as pH, EC, TDS, and hardness.</a:t>
            </a:r>
          </a:p>
          <a:p>
            <a:endParaRPr lang="en-US" sz="2400" dirty="0"/>
          </a:p>
          <a:p>
            <a:r>
              <a:rPr lang="en-US" sz="2400" b="1" dirty="0"/>
              <a:t>02.  </a:t>
            </a:r>
            <a:r>
              <a:rPr lang="en-US" sz="2400" dirty="0"/>
              <a:t>To develop and apply machine learning models (Random Forest, Decision Tree, etc.) for predicting and classifying groundwater quality.</a:t>
            </a:r>
          </a:p>
          <a:p>
            <a:endParaRPr lang="en-US" sz="2400" dirty="0"/>
          </a:p>
          <a:p>
            <a:r>
              <a:rPr lang="en-US" sz="2400" b="1" dirty="0"/>
              <a:t>03.  </a:t>
            </a:r>
            <a:r>
              <a:rPr lang="en-US" sz="2400" dirty="0"/>
              <a:t>To evaluate and compare model performance to identify the most accurate approach for groundwater quality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54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9AFE3-63E0-D7E9-AB36-5765FFB27AC6}"/>
              </a:ext>
            </a:extLst>
          </p:cNvPr>
          <p:cNvSpPr txBox="1"/>
          <p:nvPr/>
        </p:nvSpPr>
        <p:spPr>
          <a:xfrm>
            <a:off x="1445342" y="255639"/>
            <a:ext cx="40464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/>
              <a:t>DATASET OVERVIEW</a:t>
            </a:r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21D8D-6CFC-4FFB-75E4-9628CB1E9B69}"/>
              </a:ext>
            </a:extLst>
          </p:cNvPr>
          <p:cNvSpPr txBox="1"/>
          <p:nvPr/>
        </p:nvSpPr>
        <p:spPr>
          <a:xfrm>
            <a:off x="1081548" y="1494503"/>
            <a:ext cx="105598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sz="2400" dirty="0"/>
              <a:t>Dataset source: Ground water quality 2024 post monsoon data from </a:t>
            </a:r>
            <a:r>
              <a:rPr lang="en-IN" sz="2400" dirty="0" err="1"/>
              <a:t>kaggle</a:t>
            </a:r>
            <a:endParaRPr lang="en-IN" sz="2400" dirty="0"/>
          </a:p>
          <a:p>
            <a:pPr marL="285750" indent="-285750">
              <a:buFontTx/>
              <a:buChar char="-"/>
            </a:pPr>
            <a:endParaRPr lang="en-IN" sz="2400" dirty="0"/>
          </a:p>
          <a:p>
            <a:pPr marL="285750" indent="-285750">
              <a:buFontTx/>
              <a:buChar char="-"/>
            </a:pPr>
            <a:r>
              <a:rPr lang="en-IN" sz="2400" dirty="0"/>
              <a:t>Number of records and features:  300 samples, 9 features (pH, EC, TDS, Hardness, Alkalinity, Chloride, Sulphate, Nitrate, Fluoride)</a:t>
            </a:r>
          </a:p>
          <a:p>
            <a:pPr marL="285750" indent="-285750">
              <a:buFontTx/>
              <a:buChar char="-"/>
            </a:pPr>
            <a:endParaRPr lang="en-IN" sz="2400" dirty="0"/>
          </a:p>
          <a:p>
            <a:pPr marL="285750" indent="-285750">
              <a:buFontTx/>
              <a:buChar char="-"/>
            </a:pPr>
            <a:r>
              <a:rPr lang="en-IN" sz="2400" dirty="0"/>
              <a:t>Types of features:  Numerical (physicochemical parameters)</a:t>
            </a:r>
          </a:p>
          <a:p>
            <a:pPr marL="285750" indent="-285750">
              <a:buFontTx/>
              <a:buChar char="-"/>
            </a:pPr>
            <a:endParaRPr lang="en-IN" sz="2400" dirty="0"/>
          </a:p>
          <a:p>
            <a:r>
              <a:rPr lang="en-IN" sz="2400" dirty="0"/>
              <a:t>- Preprocessing steps: Data loading, feature selection,  normalization, train-test split</a:t>
            </a:r>
          </a:p>
        </p:txBody>
      </p:sp>
    </p:spTree>
    <p:extLst>
      <p:ext uri="{BB962C8B-B14F-4D97-AF65-F5344CB8AC3E}">
        <p14:creationId xmlns:p14="http://schemas.microsoft.com/office/powerpoint/2010/main" val="279790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2489E-0311-250C-30ED-C115CF1EF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24847"/>
              </p:ext>
            </p:extLst>
          </p:nvPr>
        </p:nvGraphicFramePr>
        <p:xfrm>
          <a:off x="1730477" y="139152"/>
          <a:ext cx="8318752" cy="66190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46858">
                  <a:extLst>
                    <a:ext uri="{9D8B030D-6E8A-4147-A177-3AD203B41FA5}">
                      <a16:colId xmlns:a16="http://schemas.microsoft.com/office/drawing/2014/main" val="3268717364"/>
                    </a:ext>
                  </a:extLst>
                </a:gridCol>
                <a:gridCol w="2395412">
                  <a:extLst>
                    <a:ext uri="{9D8B030D-6E8A-4147-A177-3AD203B41FA5}">
                      <a16:colId xmlns:a16="http://schemas.microsoft.com/office/drawing/2014/main" val="2415605099"/>
                    </a:ext>
                  </a:extLst>
                </a:gridCol>
                <a:gridCol w="3276482">
                  <a:extLst>
                    <a:ext uri="{9D8B030D-6E8A-4147-A177-3AD203B41FA5}">
                      <a16:colId xmlns:a16="http://schemas.microsoft.com/office/drawing/2014/main" val="4111937380"/>
                    </a:ext>
                  </a:extLst>
                </a:gridCol>
              </a:tblGrid>
              <a:tr h="413042"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 dirty="0">
                          <a:solidFill>
                            <a:srgbClr val="FFFFFF"/>
                          </a:solidFill>
                        </a:rPr>
                        <a:t> FEATURE</a:t>
                      </a:r>
                      <a:endParaRPr sz="16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Type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</a:rPr>
                        <a:t>Source</a:t>
                      </a:r>
                      <a:r>
                        <a:rPr lang="en-GB" sz="1600">
                          <a:solidFill>
                            <a:srgbClr val="FFFFFF"/>
                          </a:solidFill>
                        </a:rPr>
                        <a:t> </a:t>
                      </a:r>
                      <a:endParaRPr sz="160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04180"/>
                  </a:ext>
                </a:extLst>
              </a:tr>
              <a:tr h="413042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pH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0D47A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757472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Electrical Conductivity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484985"/>
                  </a:ext>
                </a:extLst>
              </a:tr>
              <a:tr h="946913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Total dissolved solids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94503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Total hardness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527812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Alkalinity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Field measurement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93836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Chloride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656182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Sulphate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865184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Nitrate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934256"/>
                  </a:ext>
                </a:extLst>
              </a:tr>
              <a:tr h="567584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Fluoride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(Continuous)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Laboratory analysis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360443"/>
                  </a:ext>
                </a:extLst>
              </a:tr>
              <a:tr h="413042">
                <a:tc>
                  <a:txBody>
                    <a:bodyPr/>
                    <a:lstStyle/>
                    <a:p>
                      <a:pPr marL="76200" marR="762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Groundwater Quality Index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Numerical (Target) </a:t>
                      </a:r>
                      <a:endParaRPr sz="160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762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/>
                        <a:t>Computed/Derived </a:t>
                      </a:r>
                      <a:endParaRPr sz="1600" dirty="0"/>
                    </a:p>
                  </a:txBody>
                  <a:tcPr marL="91425" marR="91425" marT="91425" marB="91425">
                    <a:lnL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368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5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ED65E-5062-E77A-7A69-C896B3AF3774}"/>
              </a:ext>
            </a:extLst>
          </p:cNvPr>
          <p:cNvSpPr txBox="1"/>
          <p:nvPr/>
        </p:nvSpPr>
        <p:spPr>
          <a:xfrm>
            <a:off x="1229032" y="0"/>
            <a:ext cx="9733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/>
              <a:t>APPROACH</a:t>
            </a:r>
            <a:endParaRPr lang="en-IN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FA78E-7931-797F-FA0D-096C07D12560}"/>
              </a:ext>
            </a:extLst>
          </p:cNvPr>
          <p:cNvSpPr txBox="1"/>
          <p:nvPr/>
        </p:nvSpPr>
        <p:spPr>
          <a:xfrm>
            <a:off x="1229032" y="646331"/>
            <a:ext cx="10107562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400" b="1" dirty="0"/>
              <a:t>Data Preprocessing</a:t>
            </a:r>
          </a:p>
          <a:p>
            <a:r>
              <a:rPr lang="en-IN" sz="2400" dirty="0"/>
              <a:t>Upload CSV/Excel dataset in Google </a:t>
            </a:r>
            <a:r>
              <a:rPr lang="en-IN" sz="2400" dirty="0" err="1"/>
              <a:t>Colab</a:t>
            </a:r>
            <a:r>
              <a:rPr lang="en-IN" sz="2400" dirty="0"/>
              <a:t> </a:t>
            </a:r>
          </a:p>
          <a:p>
            <a:r>
              <a:rPr lang="en-IN" sz="2400" dirty="0"/>
              <a:t>Feature selection (pH, EC, TDS, etc.) </a:t>
            </a:r>
          </a:p>
          <a:p>
            <a:r>
              <a:rPr lang="en-IN" sz="2400" dirty="0"/>
              <a:t>Normalize data using </a:t>
            </a:r>
            <a:r>
              <a:rPr lang="en-IN" sz="2400" dirty="0" err="1"/>
              <a:t>MinMaxScaler</a:t>
            </a:r>
            <a:r>
              <a:rPr lang="en-IN" sz="2400" dirty="0"/>
              <a:t> </a:t>
            </a:r>
          </a:p>
          <a:p>
            <a:r>
              <a:rPr lang="en-IN" sz="2400" dirty="0"/>
              <a:t>Train-test split (80:20) </a:t>
            </a:r>
          </a:p>
          <a:p>
            <a:endParaRPr lang="en-IN" sz="2400" dirty="0"/>
          </a:p>
          <a:p>
            <a:r>
              <a:rPr lang="en-IN" sz="2400" b="1" dirty="0"/>
              <a:t>• Exploratory Data Analysis</a:t>
            </a:r>
          </a:p>
          <a:p>
            <a:r>
              <a:rPr lang="en-IN" sz="2400" dirty="0"/>
              <a:t>Water quality distribution </a:t>
            </a:r>
          </a:p>
          <a:p>
            <a:r>
              <a:rPr lang="en-IN" sz="2400" dirty="0"/>
              <a:t>Correlation heatmap </a:t>
            </a:r>
          </a:p>
          <a:p>
            <a:r>
              <a:rPr lang="en-IN" sz="2400" dirty="0"/>
              <a:t>Identify key influencing parameters </a:t>
            </a:r>
            <a:br>
              <a:rPr lang="en-IN" sz="2400" dirty="0"/>
            </a:br>
            <a:endParaRPr lang="en-IN" sz="2400" dirty="0"/>
          </a:p>
          <a:p>
            <a:r>
              <a:rPr lang="en-IN" sz="2400" b="1" dirty="0"/>
              <a:t>• Model Selection</a:t>
            </a:r>
          </a:p>
          <a:p>
            <a:r>
              <a:rPr lang="en-IN" sz="2400" dirty="0"/>
              <a:t>Random Forest </a:t>
            </a:r>
          </a:p>
          <a:p>
            <a:r>
              <a:rPr lang="en-IN" sz="2400" dirty="0"/>
              <a:t>Decision Tree </a:t>
            </a:r>
          </a:p>
          <a:p>
            <a:r>
              <a:rPr lang="en-IN" sz="2400" dirty="0"/>
              <a:t>Logistic Regression 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C2610-D49C-7D71-5EB3-70D6F8BD26D6}"/>
              </a:ext>
            </a:extLst>
          </p:cNvPr>
          <p:cNvSpPr txBox="1"/>
          <p:nvPr/>
        </p:nvSpPr>
        <p:spPr>
          <a:xfrm>
            <a:off x="6876913" y="646331"/>
            <a:ext cx="408605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•</a:t>
            </a:r>
            <a:r>
              <a:rPr lang="en-IN" sz="2400" b="1" dirty="0"/>
              <a:t> Model Training &amp; Validation</a:t>
            </a:r>
          </a:p>
          <a:p>
            <a:r>
              <a:rPr lang="en-IN" sz="2400" dirty="0"/>
              <a:t>Train models on training data </a:t>
            </a:r>
          </a:p>
          <a:p>
            <a:r>
              <a:rPr lang="en-IN" sz="2400" dirty="0"/>
              <a:t>Test on unseen data </a:t>
            </a:r>
          </a:p>
          <a:p>
            <a:r>
              <a:rPr lang="en-IN" sz="2400" dirty="0"/>
              <a:t>Select best-performing model </a:t>
            </a:r>
          </a:p>
          <a:p>
            <a:endParaRPr lang="en-IN" sz="2400" dirty="0"/>
          </a:p>
          <a:p>
            <a:r>
              <a:rPr lang="en-IN" sz="2400" b="1" dirty="0"/>
              <a:t>• Evaluation Metrics</a:t>
            </a:r>
          </a:p>
          <a:p>
            <a:r>
              <a:rPr lang="en-IN" sz="2400" dirty="0"/>
              <a:t>Accuracy </a:t>
            </a:r>
          </a:p>
          <a:p>
            <a:r>
              <a:rPr lang="en-IN" sz="2400" dirty="0"/>
              <a:t>F1-score </a:t>
            </a:r>
          </a:p>
          <a:p>
            <a:r>
              <a:rPr lang="en-IN" sz="2400" dirty="0"/>
              <a:t>Confusion Matrix</a:t>
            </a:r>
            <a:endParaRPr lang="en-IN" sz="2400" b="1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3462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3278B8-8293-1336-85E2-97D5D374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59" y="0"/>
            <a:ext cx="55552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60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AA11DCD-A6E0-DACB-28AD-00C1CD357EDE}"/>
              </a:ext>
            </a:extLst>
          </p:cNvPr>
          <p:cNvSpPr txBox="1"/>
          <p:nvPr/>
        </p:nvSpPr>
        <p:spPr>
          <a:xfrm>
            <a:off x="1209368" y="540774"/>
            <a:ext cx="366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68364C5-9282-EF6F-A6F1-28A0111EA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436139"/>
              </p:ext>
            </p:extLst>
          </p:nvPr>
        </p:nvGraphicFramePr>
        <p:xfrm>
          <a:off x="1371600" y="4803140"/>
          <a:ext cx="9601200" cy="36576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3077264938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3529790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95811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F4C1708-3AFB-A20E-5079-82F6CA8FE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42106"/>
              </p:ext>
            </p:extLst>
          </p:nvPr>
        </p:nvGraphicFramePr>
        <p:xfrm>
          <a:off x="1873045" y="1784743"/>
          <a:ext cx="9601200" cy="365760"/>
        </p:xfrm>
        <a:graphic>
          <a:graphicData uri="http://schemas.openxmlformats.org/drawingml/2006/table">
            <a:tbl>
              <a:tblPr/>
              <a:tblGrid>
                <a:gridCol w="4800600">
                  <a:extLst>
                    <a:ext uri="{9D8B030D-6E8A-4147-A177-3AD203B41FA5}">
                      <a16:colId xmlns:a16="http://schemas.microsoft.com/office/drawing/2014/main" val="118059424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788127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0220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0CDFE90-85C3-8729-2DCF-E678ECB48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599118"/>
              </p:ext>
            </p:extLst>
          </p:nvPr>
        </p:nvGraphicFramePr>
        <p:xfrm>
          <a:off x="835742" y="0"/>
          <a:ext cx="11139948" cy="69042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569974">
                  <a:extLst>
                    <a:ext uri="{9D8B030D-6E8A-4147-A177-3AD203B41FA5}">
                      <a16:colId xmlns:a16="http://schemas.microsoft.com/office/drawing/2014/main" val="140301163"/>
                    </a:ext>
                  </a:extLst>
                </a:gridCol>
                <a:gridCol w="5569974">
                  <a:extLst>
                    <a:ext uri="{9D8B030D-6E8A-4147-A177-3AD203B41FA5}">
                      <a16:colId xmlns:a16="http://schemas.microsoft.com/office/drawing/2014/main" val="3251899627"/>
                    </a:ext>
                  </a:extLst>
                </a:gridCol>
              </a:tblGrid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TOOL/TECHNOLOGY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Role in the Project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8199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Python 3.x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programming language used to implement the entire ML pipeline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994687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pandas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data loading, manipulation, and preprocessing of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162627"/>
                  </a:ext>
                </a:extLst>
              </a:tr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NumPy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Performs numerical computations and array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7901557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matplotlib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Used for data visualization like bar charts and heatmaps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207944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scikit-learn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Machine learning library used for model building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25659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Random Forest Classifier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Ensemble algorithm that improves accuracy using multiple decision trees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227636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Decision Tree Classifier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Tree-based model that classifies data using decision rules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14520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Logistic Regression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Statistical model used for binary classification (Safe/Unsafe)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268502"/>
                  </a:ext>
                </a:extLst>
              </a:tr>
              <a:tr h="594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train_test_split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Splits dataset into training and testing 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315046"/>
                  </a:ext>
                </a:extLst>
              </a:tr>
              <a:tr h="63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Confusion Matrix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Evaluates classification performance by comparing actual vs predicted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4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7531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93C93-855D-5F6E-B910-BC6908ED06C8}"/>
              </a:ext>
            </a:extLst>
          </p:cNvPr>
          <p:cNvSpPr txBox="1"/>
          <p:nvPr/>
        </p:nvSpPr>
        <p:spPr>
          <a:xfrm>
            <a:off x="1759974" y="1297857"/>
            <a:ext cx="734469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--- Capstone: AI/ML Groundwater Quality Prediction ---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# Import Libraries</a:t>
            </a: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pandas as pd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from </a:t>
            </a:r>
            <a:r>
              <a:rPr lang="en-IN" dirty="0" err="1"/>
              <a:t>sklearn.ensemble</a:t>
            </a:r>
            <a:r>
              <a:rPr lang="en-IN" dirty="0"/>
              <a:t> import </a:t>
            </a:r>
            <a:r>
              <a:rPr lang="en-IN" dirty="0" err="1"/>
              <a:t>RandomForestClassifier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sklearn.svm</a:t>
            </a:r>
            <a:r>
              <a:rPr lang="en-IN" dirty="0"/>
              <a:t> import SVC</a:t>
            </a:r>
          </a:p>
          <a:p>
            <a:r>
              <a:rPr lang="en-IN" dirty="0"/>
              <a:t>from </a:t>
            </a:r>
            <a:r>
              <a:rPr lang="en-IN" dirty="0" err="1"/>
              <a:t>sklearn.tree</a:t>
            </a:r>
            <a:r>
              <a:rPr lang="en-IN" dirty="0"/>
              <a:t> import </a:t>
            </a:r>
            <a:r>
              <a:rPr lang="en-IN" dirty="0" err="1"/>
              <a:t>DecisionTreeClassifier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sklearn.linear_model</a:t>
            </a:r>
            <a:r>
              <a:rPr lang="en-IN" dirty="0"/>
              <a:t> import </a:t>
            </a:r>
            <a:r>
              <a:rPr lang="en-IN" dirty="0" err="1"/>
              <a:t>LogisticRegression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MinMaxScaler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sklearn.model_selection</a:t>
            </a:r>
            <a:r>
              <a:rPr lang="en-IN" dirty="0"/>
              <a:t> import </a:t>
            </a:r>
            <a:r>
              <a:rPr lang="en-IN" dirty="0" err="1"/>
              <a:t>train_test_split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sklearn.metrics</a:t>
            </a:r>
            <a:r>
              <a:rPr lang="en-IN" dirty="0"/>
              <a:t> import </a:t>
            </a:r>
            <a:r>
              <a:rPr lang="en-IN" dirty="0" err="1"/>
              <a:t>accuracy_score</a:t>
            </a:r>
            <a:r>
              <a:rPr lang="en-IN" dirty="0"/>
              <a:t>, </a:t>
            </a:r>
            <a:r>
              <a:rPr lang="en-IN" dirty="0" err="1"/>
              <a:t>confusion_matrix</a:t>
            </a:r>
            <a:r>
              <a:rPr lang="en-IN" dirty="0"/>
              <a:t>, </a:t>
            </a:r>
            <a:r>
              <a:rPr lang="en-IN" dirty="0" err="1"/>
              <a:t>classification_report</a:t>
            </a:r>
            <a:endParaRPr lang="en-IN" dirty="0"/>
          </a:p>
          <a:p>
            <a:r>
              <a:rPr lang="en-IN" dirty="0"/>
              <a:t> </a:t>
            </a:r>
          </a:p>
          <a:p>
            <a:r>
              <a:rPr lang="en-IN" dirty="0"/>
              <a:t>import warnings</a:t>
            </a:r>
          </a:p>
          <a:p>
            <a:r>
              <a:rPr lang="en-IN" dirty="0" err="1"/>
              <a:t>warnings.filterwarnings</a:t>
            </a:r>
            <a:r>
              <a:rPr lang="en-IN" dirty="0"/>
              <a:t>('ignore')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DDFB7-99BC-4204-2C01-1EB1B6B63C7E}"/>
              </a:ext>
            </a:extLst>
          </p:cNvPr>
          <p:cNvSpPr txBox="1"/>
          <p:nvPr/>
        </p:nvSpPr>
        <p:spPr>
          <a:xfrm>
            <a:off x="1759974" y="481781"/>
            <a:ext cx="402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PYTHON CODE</a:t>
            </a:r>
          </a:p>
        </p:txBody>
      </p:sp>
    </p:spTree>
    <p:extLst>
      <p:ext uri="{BB962C8B-B14F-4D97-AF65-F5344CB8AC3E}">
        <p14:creationId xmlns:p14="http://schemas.microsoft.com/office/powerpoint/2010/main" val="229546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773B7D-D9AC-F8C8-6E7A-8C013B260752}"/>
              </a:ext>
            </a:extLst>
          </p:cNvPr>
          <p:cNvSpPr txBox="1"/>
          <p:nvPr/>
        </p:nvSpPr>
        <p:spPr>
          <a:xfrm>
            <a:off x="1297860" y="353962"/>
            <a:ext cx="8858863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 --- 1. Groundwater Quality Dataset  ---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data = {</a:t>
            </a:r>
          </a:p>
          <a:p>
            <a:r>
              <a:rPr lang="en-IN" dirty="0"/>
              <a:t>    'pH': [7.2, 6.8, 7.5, 8.1, 6.9, 7.0, 8.3, 7.4],</a:t>
            </a:r>
          </a:p>
          <a:p>
            <a:r>
              <a:rPr lang="en-IN" dirty="0"/>
              <a:t>    'EC': [1200, 1500, 1100, 1800, 1400, 1300, 1700, 1250],</a:t>
            </a:r>
          </a:p>
          <a:p>
            <a:r>
              <a:rPr lang="en-IN" dirty="0"/>
              <a:t>    'TDS': [700, 900, 650, 1100, 800, 750, 1050, 720],</a:t>
            </a:r>
          </a:p>
          <a:p>
            <a:r>
              <a:rPr lang="en-IN" dirty="0"/>
              <a:t>    'Hardness': [300, 450, 280, 500, 400, 350, 480, 320],</a:t>
            </a:r>
          </a:p>
          <a:p>
            <a:r>
              <a:rPr lang="en-IN" dirty="0"/>
              <a:t>    'Alkalinity': [200, 250, 180, 300, 220, 210, 290, 205],</a:t>
            </a:r>
          </a:p>
          <a:p>
            <a:r>
              <a:rPr lang="en-IN" dirty="0"/>
              <a:t>    'Chloride': [150, 200, 140, 250, 180, 160, 240, 155],</a:t>
            </a:r>
          </a:p>
          <a:p>
            <a:r>
              <a:rPr lang="en-IN" dirty="0"/>
              <a:t>    'Sulphate': [100, 130, 90, 160, 120, 110, 150, 105],</a:t>
            </a:r>
          </a:p>
          <a:p>
            <a:r>
              <a:rPr lang="en-IN" dirty="0"/>
              <a:t>    'Nitrate': [20, 35, 18, 40, 25, 22, 38, 21],</a:t>
            </a:r>
          </a:p>
          <a:p>
            <a:r>
              <a:rPr lang="en-IN" dirty="0"/>
              <a:t>    'Fluoride': [0.8, 1.2, 0.7, 1.5, 1.0, 0.9, 1.4, 0.85],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# Target: 1 = Safe, 0 = Unsafe</a:t>
            </a:r>
          </a:p>
          <a:p>
            <a:r>
              <a:rPr lang="en-IN" dirty="0"/>
              <a:t>    '</a:t>
            </a:r>
            <a:r>
              <a:rPr lang="en-IN" dirty="0" err="1"/>
              <a:t>Water_Quality</a:t>
            </a:r>
            <a:r>
              <a:rPr lang="en-IN" dirty="0"/>
              <a:t>': [1, 0, 1, 0, 0, 1, 0, 1]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 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print("Dataset:\n", </a:t>
            </a:r>
            <a:r>
              <a:rPr lang="en-IN" dirty="0" err="1"/>
              <a:t>df.head</a:t>
            </a:r>
            <a:r>
              <a:rPr lang="en-IN" dirty="0"/>
              <a:t>())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45310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B06DA-37B1-2CB7-43B0-BFC6E4C2BFFF}"/>
              </a:ext>
            </a:extLst>
          </p:cNvPr>
          <p:cNvSpPr txBox="1"/>
          <p:nvPr/>
        </p:nvSpPr>
        <p:spPr>
          <a:xfrm>
            <a:off x="1219199" y="-235541"/>
            <a:ext cx="10137059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dirty="0"/>
            </a:br>
            <a:r>
              <a:rPr lang="en-IN" dirty="0"/>
              <a:t># --- 2. Feature Selection ---</a:t>
            </a:r>
          </a:p>
          <a:p>
            <a:r>
              <a:rPr lang="en-IN" dirty="0"/>
              <a:t>X = </a:t>
            </a:r>
            <a:r>
              <a:rPr lang="en-IN" dirty="0" err="1"/>
              <a:t>df.drop</a:t>
            </a:r>
            <a:r>
              <a:rPr lang="en-IN" dirty="0"/>
              <a:t>('</a:t>
            </a:r>
            <a:r>
              <a:rPr lang="en-IN" dirty="0" err="1"/>
              <a:t>Water_Quality</a:t>
            </a:r>
            <a:r>
              <a:rPr lang="en-IN" dirty="0"/>
              <a:t>', axis=1)</a:t>
            </a:r>
          </a:p>
          <a:p>
            <a:r>
              <a:rPr lang="en-IN" dirty="0"/>
              <a:t>y = </a:t>
            </a: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Water_Quality</a:t>
            </a:r>
            <a:r>
              <a:rPr lang="en-IN" dirty="0"/>
              <a:t>']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# --- 3. Data Preprocessing (Scaling) ---</a:t>
            </a:r>
          </a:p>
          <a:p>
            <a:r>
              <a:rPr lang="en-IN" dirty="0"/>
              <a:t>scaler = </a:t>
            </a:r>
            <a:r>
              <a:rPr lang="en-IN" dirty="0" err="1"/>
              <a:t>MinMaxScaler</a:t>
            </a:r>
            <a:r>
              <a:rPr lang="en-IN" dirty="0"/>
              <a:t>()</a:t>
            </a:r>
          </a:p>
          <a:p>
            <a:r>
              <a:rPr lang="en-IN" dirty="0" err="1"/>
              <a:t>X_scaled</a:t>
            </a:r>
            <a:r>
              <a:rPr lang="en-IN" dirty="0"/>
              <a:t> = </a:t>
            </a:r>
            <a:r>
              <a:rPr lang="en-IN" dirty="0" err="1"/>
              <a:t>scaler.fit_transform</a:t>
            </a:r>
            <a:r>
              <a:rPr lang="en-IN" dirty="0"/>
              <a:t>(X)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# --- 4. Train-Test Split ---</a:t>
            </a:r>
          </a:p>
          <a:p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</a:t>
            </a:r>
          </a:p>
          <a:p>
            <a:r>
              <a:rPr lang="en-IN" dirty="0"/>
              <a:t>    </a:t>
            </a:r>
            <a:r>
              <a:rPr lang="en-IN" dirty="0" err="1"/>
              <a:t>X_scaled</a:t>
            </a:r>
            <a:r>
              <a:rPr lang="en-IN" dirty="0"/>
              <a:t>, y, </a:t>
            </a:r>
            <a:r>
              <a:rPr lang="en-IN" dirty="0" err="1"/>
              <a:t>test_size</a:t>
            </a:r>
            <a:r>
              <a:rPr lang="en-IN" dirty="0"/>
              <a:t>=0.2, </a:t>
            </a:r>
            <a:r>
              <a:rPr lang="en-IN" dirty="0" err="1"/>
              <a:t>random_state</a:t>
            </a:r>
            <a:r>
              <a:rPr lang="en-IN" dirty="0"/>
              <a:t>=42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# --- 5. Model Training ---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models = {</a:t>
            </a:r>
          </a:p>
          <a:p>
            <a:r>
              <a:rPr lang="en-IN" dirty="0"/>
              <a:t>    "Random Forest": </a:t>
            </a:r>
            <a:r>
              <a:rPr lang="en-IN" dirty="0" err="1"/>
              <a:t>RandomForestClassifier</a:t>
            </a:r>
            <a:r>
              <a:rPr lang="en-IN" dirty="0"/>
              <a:t>(),</a:t>
            </a:r>
          </a:p>
          <a:p>
            <a:r>
              <a:rPr lang="en-IN" dirty="0"/>
              <a:t>    "Decision Tree": </a:t>
            </a:r>
            <a:r>
              <a:rPr lang="en-IN" dirty="0" err="1"/>
              <a:t>DecisionTreeClassifier</a:t>
            </a:r>
            <a:r>
              <a:rPr lang="en-IN" dirty="0"/>
              <a:t>(),</a:t>
            </a:r>
          </a:p>
          <a:p>
            <a:r>
              <a:rPr lang="en-IN" dirty="0"/>
              <a:t>    "SVM": SVC(),</a:t>
            </a:r>
          </a:p>
          <a:p>
            <a:r>
              <a:rPr lang="en-IN" dirty="0"/>
              <a:t>    "Logistic Regression": </a:t>
            </a:r>
            <a:r>
              <a:rPr lang="en-IN" dirty="0" err="1"/>
              <a:t>LogisticRegression</a:t>
            </a:r>
            <a:r>
              <a:rPr lang="en-IN" dirty="0"/>
              <a:t>()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2067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96D922-3073-9A42-5C1E-655EF4B4AD82}"/>
              </a:ext>
            </a:extLst>
          </p:cNvPr>
          <p:cNvSpPr txBox="1"/>
          <p:nvPr/>
        </p:nvSpPr>
        <p:spPr>
          <a:xfrm>
            <a:off x="1288025" y="243512"/>
            <a:ext cx="910467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results = {}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name, model in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models.items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():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model.fit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X_train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y_train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model.predict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X_test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accuracy_score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results[name] =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print(f"\n{name} Results:")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print("Accuracy:",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acc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print("Confusion Matrix:\n",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confusion_matrix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   print("Classification Report:\n",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classification_report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y_test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y_pred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# --- 6. Best Model Selection ---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best_model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= max(results, key=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results.get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print("\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nBest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Model:", </a:t>
            </a:r>
            <a:r>
              <a:rPr lang="en-IN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best_model</a:t>
            </a:r>
            <a:r>
              <a:rPr lang="en-IN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Bef>
                <a:spcPts val="100"/>
              </a:spcBef>
              <a:spcAft>
                <a:spcPts val="100"/>
              </a:spcAft>
              <a:buNone/>
            </a:pPr>
            <a:r>
              <a:rPr lang="en-I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87119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250FDD-619C-4DD4-8A75-4041B3EC6891}"/>
              </a:ext>
            </a:extLst>
          </p:cNvPr>
          <p:cNvSpPr txBox="1"/>
          <p:nvPr/>
        </p:nvSpPr>
        <p:spPr>
          <a:xfrm>
            <a:off x="1189703" y="432620"/>
            <a:ext cx="57642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# --- 7. Prediction Example ---</a:t>
            </a:r>
          </a:p>
          <a:p>
            <a:r>
              <a:rPr lang="en-IN" dirty="0"/>
              <a:t>sample = [[7.1, 1300, 750, 320, 210, 160, 110, 22, 0.9]]</a:t>
            </a:r>
          </a:p>
          <a:p>
            <a:r>
              <a:rPr lang="en-IN" dirty="0" err="1"/>
              <a:t>sample_scaled</a:t>
            </a:r>
            <a:r>
              <a:rPr lang="en-IN" dirty="0"/>
              <a:t> = </a:t>
            </a:r>
            <a:r>
              <a:rPr lang="en-IN" dirty="0" err="1"/>
              <a:t>scaler.transform</a:t>
            </a:r>
            <a:r>
              <a:rPr lang="en-IN" dirty="0"/>
              <a:t>(sample)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prediction = models[</a:t>
            </a:r>
            <a:r>
              <a:rPr lang="en-IN" dirty="0" err="1"/>
              <a:t>best_model</a:t>
            </a:r>
            <a:r>
              <a:rPr lang="en-IN" dirty="0"/>
              <a:t>].predict(</a:t>
            </a:r>
            <a:r>
              <a:rPr lang="en-IN" dirty="0" err="1"/>
              <a:t>sample_scaled</a:t>
            </a:r>
            <a:r>
              <a:rPr lang="en-IN" dirty="0"/>
              <a:t>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print("\</a:t>
            </a:r>
            <a:r>
              <a:rPr lang="en-IN" dirty="0" err="1"/>
              <a:t>nPrediction</a:t>
            </a:r>
            <a:r>
              <a:rPr lang="en-IN" dirty="0"/>
              <a:t> for new sample:",</a:t>
            </a:r>
          </a:p>
          <a:p>
            <a:r>
              <a:rPr lang="en-IN" dirty="0"/>
              <a:t>      "Safe Water" if prediction[0] == 1 else "Unsafe Water")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04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2C1E37-43BD-A57F-F0EE-98B168E00454}"/>
              </a:ext>
            </a:extLst>
          </p:cNvPr>
          <p:cNvSpPr txBox="1"/>
          <p:nvPr/>
        </p:nvSpPr>
        <p:spPr>
          <a:xfrm>
            <a:off x="4866967" y="20963"/>
            <a:ext cx="2172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/>
              <a:t>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6A886-D9E9-332F-6DE4-A14A17600D35}"/>
              </a:ext>
            </a:extLst>
          </p:cNvPr>
          <p:cNvSpPr txBox="1"/>
          <p:nvPr/>
        </p:nvSpPr>
        <p:spPr>
          <a:xfrm>
            <a:off x="1415845" y="855406"/>
            <a:ext cx="99207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Random Forest Results:</a:t>
            </a:r>
          </a:p>
          <a:p>
            <a:pPr algn="just"/>
            <a:r>
              <a:rPr lang="en-IN" dirty="0"/>
              <a:t>Accuracy: 0.95</a:t>
            </a:r>
          </a:p>
          <a:p>
            <a:pPr algn="just"/>
            <a:r>
              <a:rPr lang="en-IN" dirty="0"/>
              <a:t>Confusion Matrix:[[57  0] [ 3  0]]Classification Report:              precision    recall  f1-score   support           0       0.95      1.00      0.97        57           1       0.00      0.00      0.00         3accuracy                           0.95        60macro </a:t>
            </a:r>
            <a:r>
              <a:rPr lang="en-IN" dirty="0" err="1"/>
              <a:t>avg</a:t>
            </a:r>
            <a:r>
              <a:rPr lang="en-IN" dirty="0"/>
              <a:t>       0.47      0.50      0.49        60weighted </a:t>
            </a:r>
            <a:r>
              <a:rPr lang="en-IN" dirty="0" err="1"/>
              <a:t>avg</a:t>
            </a:r>
            <a:r>
              <a:rPr lang="en-IN" dirty="0"/>
              <a:t>    0.90      0.95      0.93        60</a:t>
            </a:r>
          </a:p>
          <a:p>
            <a:pPr algn="just"/>
            <a:r>
              <a:rPr lang="en-IN" dirty="0"/>
              <a:t> </a:t>
            </a:r>
          </a:p>
          <a:p>
            <a:pPr algn="just"/>
            <a:r>
              <a:rPr lang="en-IN" dirty="0"/>
              <a:t>Decision Tree Results:</a:t>
            </a:r>
          </a:p>
          <a:p>
            <a:pPr algn="just"/>
            <a:r>
              <a:rPr lang="en-IN" dirty="0"/>
              <a:t>Accuracy: 0.9666666666666667</a:t>
            </a:r>
          </a:p>
          <a:p>
            <a:pPr algn="just"/>
            <a:r>
              <a:rPr lang="en-IN" dirty="0"/>
              <a:t>Confusion Matrix:[[57  0] [ 2  1]]Classification Report:              precision    recall  f1-score   support           0       0.97      1.00      0.98        57           1       1.00      0.33      0.50         3accuracy                           0.97        60macro </a:t>
            </a:r>
            <a:r>
              <a:rPr lang="en-IN" dirty="0" err="1"/>
              <a:t>avg</a:t>
            </a:r>
            <a:r>
              <a:rPr lang="en-IN" dirty="0"/>
              <a:t>       0.98      0.67      0.74        60weighted </a:t>
            </a:r>
            <a:r>
              <a:rPr lang="en-IN" dirty="0" err="1"/>
              <a:t>avg</a:t>
            </a:r>
            <a:r>
              <a:rPr lang="en-IN" dirty="0"/>
              <a:t>    0.97      0.97      0.96        60</a:t>
            </a:r>
          </a:p>
          <a:p>
            <a:pPr algn="just"/>
            <a:r>
              <a:rPr lang="en-IN" dirty="0"/>
              <a:t> </a:t>
            </a:r>
          </a:p>
          <a:p>
            <a:pPr algn="just"/>
            <a:r>
              <a:rPr lang="en-IN" dirty="0"/>
              <a:t>Logistic Regression Results:</a:t>
            </a:r>
          </a:p>
          <a:p>
            <a:pPr algn="just"/>
            <a:r>
              <a:rPr lang="en-IN" dirty="0"/>
              <a:t>Accuracy</a:t>
            </a:r>
            <a:r>
              <a:rPr lang="en-IN"/>
              <a:t>: 0.95</a:t>
            </a:r>
          </a:p>
          <a:p>
            <a:pPr algn="just"/>
            <a:r>
              <a:rPr lang="en-IN"/>
              <a:t>Confusion </a:t>
            </a:r>
            <a:r>
              <a:rPr lang="en-IN" dirty="0"/>
              <a:t>Matrix:[[57  0] [ 3  0]]Classification Report:              precision    recall  f1-score   support           0       0.95      1.00      0.97        57           1       0.00      0.00      0.00         3accuracy                           0.95        60macro </a:t>
            </a:r>
            <a:r>
              <a:rPr lang="en-IN" dirty="0" err="1"/>
              <a:t>avg</a:t>
            </a:r>
            <a:r>
              <a:rPr lang="en-IN" dirty="0"/>
              <a:t>       0.47      0.50      0.49        60weighted </a:t>
            </a:r>
            <a:r>
              <a:rPr lang="en-IN" dirty="0" err="1"/>
              <a:t>avg</a:t>
            </a:r>
            <a:r>
              <a:rPr lang="en-IN" dirty="0"/>
              <a:t>    0.90      0.95      0.93        60</a:t>
            </a:r>
          </a:p>
          <a:p>
            <a:endParaRPr lang="en-IN" dirty="0"/>
          </a:p>
          <a:p>
            <a:r>
              <a:rPr lang="en-IN" dirty="0"/>
              <a:t>Best Model: Random forest (even though decision tree accuracy is more it is due to overfitting.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669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930B-DC6F-4F26-6A4F-AB70BFA85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22767D-9434-350D-AD1B-29592BC6FA8E}"/>
              </a:ext>
            </a:extLst>
          </p:cNvPr>
          <p:cNvSpPr txBox="1"/>
          <p:nvPr/>
        </p:nvSpPr>
        <p:spPr>
          <a:xfrm>
            <a:off x="806245" y="0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DISCUSSION</a:t>
            </a:r>
          </a:p>
          <a:p>
            <a:pPr>
              <a:buNone/>
            </a:pPr>
            <a:endParaRPr lang="en-US" sz="3600" b="1" dirty="0"/>
          </a:p>
          <a:p>
            <a:pPr>
              <a:buNone/>
            </a:pPr>
            <a:r>
              <a:rPr lang="en-US" sz="2400" b="1" dirty="0"/>
              <a:t> Key Insights Derived from the Project</a:t>
            </a:r>
          </a:p>
          <a:p>
            <a:pPr>
              <a:buNone/>
            </a:pPr>
            <a:endParaRPr lang="en-US" sz="2400" dirty="0"/>
          </a:p>
          <a:p>
            <a:r>
              <a:rPr lang="en-US" dirty="0"/>
              <a:t>1. accuracy in classifying groundwater quality based on physicochemical parameters. </a:t>
            </a:r>
          </a:p>
          <a:p>
            <a:endParaRPr lang="en-US" dirty="0"/>
          </a:p>
          <a:p>
            <a:r>
              <a:rPr lang="en-US" dirty="0"/>
              <a:t>2.Parameters like TDS, EC, and hardness had strong influence on water quality prediction. </a:t>
            </a:r>
          </a:p>
          <a:p>
            <a:endParaRPr lang="en-US" dirty="0"/>
          </a:p>
          <a:p>
            <a:pPr>
              <a:buNone/>
            </a:pPr>
            <a:r>
              <a:rPr lang="en-US" sz="2400" b="1" dirty="0"/>
              <a:t> Challenges Faced (Data Quality, Noise, Imbalance, Feature Selection)</a:t>
            </a:r>
          </a:p>
          <a:p>
            <a:pPr>
              <a:buNone/>
            </a:pPr>
            <a:endParaRPr lang="en-US" sz="2400" dirty="0"/>
          </a:p>
          <a:p>
            <a:r>
              <a:rPr lang="en-US" dirty="0"/>
              <a:t>1.Presence of missing values and noisy data affected model performance.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2.Class imbalance (more “safe” than “unsafe” samples) required careful handling for accurate prediction</a:t>
            </a:r>
            <a:r>
              <a:rPr lang="en-US" sz="240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CD9AB-76F9-E0B2-DF70-2C47D5552712}"/>
              </a:ext>
            </a:extLst>
          </p:cNvPr>
          <p:cNvSpPr txBox="1"/>
          <p:nvPr/>
        </p:nvSpPr>
        <p:spPr>
          <a:xfrm>
            <a:off x="6676102" y="1107996"/>
            <a:ext cx="5211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Limitations of the Approach or Dataset</a:t>
            </a:r>
            <a:endParaRPr lang="en-US" sz="2400" dirty="0"/>
          </a:p>
          <a:p>
            <a:endParaRPr lang="en-US" dirty="0"/>
          </a:p>
          <a:p>
            <a:r>
              <a:rPr lang="en-US" dirty="0"/>
              <a:t>1.Limited dataset size and region-specific data reduce generalization to other areas. </a:t>
            </a:r>
          </a:p>
          <a:p>
            <a:endParaRPr lang="en-US" dirty="0"/>
          </a:p>
          <a:p>
            <a:r>
              <a:rPr lang="en-US" dirty="0"/>
              <a:t>2.Lack of temporal data (seasonal variations) limits long-term prediction capability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b="1" dirty="0"/>
              <a:t> Impact on Agricultural Decision-Making</a:t>
            </a:r>
          </a:p>
          <a:p>
            <a:endParaRPr lang="en-US" sz="2400" dirty="0"/>
          </a:p>
          <a:p>
            <a:r>
              <a:rPr lang="en-US" dirty="0"/>
              <a:t>1.Helps farmers identify safe groundwater for irrigation, improving crop yield and soil health.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2.Supports efficient water resource management and sustainable farming </a:t>
            </a:r>
          </a:p>
        </p:txBody>
      </p:sp>
    </p:spTree>
    <p:extLst>
      <p:ext uri="{BB962C8B-B14F-4D97-AF65-F5344CB8AC3E}">
        <p14:creationId xmlns:p14="http://schemas.microsoft.com/office/powerpoint/2010/main" val="2104358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5C128-0CC7-2BD9-62AF-907CBB7E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9A742E-41A5-1AE3-9E61-2AE57A872576}"/>
              </a:ext>
            </a:extLst>
          </p:cNvPr>
          <p:cNvSpPr txBox="1"/>
          <p:nvPr/>
        </p:nvSpPr>
        <p:spPr>
          <a:xfrm>
            <a:off x="1091381" y="0"/>
            <a:ext cx="113562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CONCLUSION &amp; FUTUREWORK</a:t>
            </a:r>
          </a:p>
          <a:p>
            <a:endParaRPr lang="en-IN" sz="3600" dirty="0"/>
          </a:p>
          <a:p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8B2B9C-DDFC-A3B1-682C-CF6487E19B5A}"/>
              </a:ext>
            </a:extLst>
          </p:cNvPr>
          <p:cNvSpPr txBox="1"/>
          <p:nvPr/>
        </p:nvSpPr>
        <p:spPr>
          <a:xfrm>
            <a:off x="717757" y="412503"/>
            <a:ext cx="114742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       Project Summary &amp; Outcomes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Random Forest performed best, providing reliable and accurate predictions.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      Potential Improvements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Use larger and more diverse datasets (multi-seasonal, multi-location).</a:t>
            </a:r>
          </a:p>
          <a:p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Apply advanced models (Deep Learning, Ensemble techniques) and real-time IoT-based monitoring systems. </a:t>
            </a:r>
          </a:p>
          <a:p>
            <a:pPr>
              <a:buNone/>
            </a:pPr>
            <a:r>
              <a:rPr lang="en-US" sz="2000" dirty="0"/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F2F3E8-B456-E09B-6090-C4E490D8FFA9}"/>
              </a:ext>
            </a:extLst>
          </p:cNvPr>
          <p:cNvSpPr txBox="1"/>
          <p:nvPr/>
        </p:nvSpPr>
        <p:spPr>
          <a:xfrm>
            <a:off x="894736" y="3271880"/>
            <a:ext cx="109334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    Practical Applications in Farming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Helps farmers select suitable water for irrigation, preventing soil degradation.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Supports precision agriculture and sustainable water management.</a:t>
            </a:r>
          </a:p>
          <a:p>
            <a:r>
              <a:rPr lang="en-US" sz="2000" dirty="0"/>
              <a:t> </a:t>
            </a:r>
          </a:p>
          <a:p>
            <a:pPr>
              <a:buNone/>
            </a:pPr>
            <a:r>
              <a:rPr lang="en-US" sz="2000" b="1" dirty="0"/>
              <a:t>   Learning &amp; Acknowledgement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Gained hands-on experience in data preprocessing, model building, and evaluation.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Developed skills in applying AI/ML for real-world agricultural problems. </a:t>
            </a:r>
          </a:p>
        </p:txBody>
      </p:sp>
    </p:spTree>
    <p:extLst>
      <p:ext uri="{BB962C8B-B14F-4D97-AF65-F5344CB8AC3E}">
        <p14:creationId xmlns:p14="http://schemas.microsoft.com/office/powerpoint/2010/main" val="2801336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109CA-05BC-1649-8737-15992380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2FAC40-7B81-E259-25D6-60AE6CBF8DF8}"/>
              </a:ext>
            </a:extLst>
          </p:cNvPr>
          <p:cNvSpPr txBox="1"/>
          <p:nvPr/>
        </p:nvSpPr>
        <p:spPr>
          <a:xfrm>
            <a:off x="1081548" y="186814"/>
            <a:ext cx="2829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/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0380E-4BC3-1F99-DA02-DF24DDDB3980}"/>
              </a:ext>
            </a:extLst>
          </p:cNvPr>
          <p:cNvSpPr txBox="1"/>
          <p:nvPr/>
        </p:nvSpPr>
        <p:spPr>
          <a:xfrm>
            <a:off x="1081548" y="1368829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 </a:t>
            </a:r>
            <a:r>
              <a:rPr lang="en-IN" sz="2800" b="1" dirty="0"/>
              <a:t>DATA SOURCE</a:t>
            </a:r>
            <a:r>
              <a:rPr lang="en-IN" sz="2800" dirty="0"/>
              <a:t>  : </a:t>
            </a:r>
            <a:r>
              <a:rPr lang="en-IN" sz="2400" dirty="0"/>
              <a:t>Ground water quality 2024 post monsoon data from Kaggle.com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A53A5F-3C1C-A3DC-0BCB-493A836A4D5D}"/>
              </a:ext>
            </a:extLst>
          </p:cNvPr>
          <p:cNvSpPr txBox="1"/>
          <p:nvPr/>
        </p:nvSpPr>
        <p:spPr>
          <a:xfrm>
            <a:off x="1160207" y="2797065"/>
            <a:ext cx="679409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/>
              <a:t>1. Devendra Dohare, Shriram Deshpande, Atul </a:t>
            </a:r>
          </a:p>
          <a:p>
            <a:pPr>
              <a:buNone/>
            </a:pPr>
            <a:r>
              <a:rPr lang="en-IN" sz="2400" err="1"/>
              <a:t>Kotiya</a:t>
            </a:r>
            <a:r>
              <a:rPr lang="en-IN" sz="2400"/>
              <a:t> -Research Journal of Engineering </a:t>
            </a:r>
          </a:p>
          <a:p>
            <a:pPr>
              <a:buNone/>
            </a:pPr>
            <a:r>
              <a:rPr lang="en-IN" sz="2400"/>
              <a:t>Sciences ISSN 2278, 9472, 2014​ </a:t>
            </a:r>
          </a:p>
          <a:p>
            <a:pPr>
              <a:buNone/>
            </a:pPr>
            <a:r>
              <a:rPr lang="en-IN" sz="2400"/>
              <a:t>2. Praharsh S Patel, Dishant M Pandya, </a:t>
            </a:r>
          </a:p>
          <a:p>
            <a:pPr>
              <a:buNone/>
            </a:pPr>
            <a:r>
              <a:rPr lang="en-IN" sz="2400"/>
              <a:t>Manan Shah(2023)- Environmental </a:t>
            </a:r>
          </a:p>
          <a:p>
            <a:pPr>
              <a:buNone/>
            </a:pPr>
            <a:r>
              <a:rPr lang="en-IN" sz="2400"/>
              <a:t>Science and Pollution Research 30 (19), </a:t>
            </a:r>
          </a:p>
          <a:p>
            <a:pPr>
              <a:buNone/>
            </a:pPr>
            <a:r>
              <a:rPr lang="en-IN" sz="2400"/>
              <a:t>54303-54323, 2023​ </a:t>
            </a:r>
          </a:p>
          <a:p>
            <a:pPr>
              <a:buNone/>
            </a:pPr>
            <a:r>
              <a:rPr lang="en-IN" sz="2400"/>
              <a:t>3. Joshua O </a:t>
            </a:r>
            <a:r>
              <a:rPr lang="en-IN" sz="2400" err="1"/>
              <a:t>Ighalo</a:t>
            </a:r>
            <a:r>
              <a:rPr lang="en-IN" sz="2400"/>
              <a:t>, Adewale George Adeniyi, </a:t>
            </a:r>
          </a:p>
          <a:p>
            <a:pPr>
              <a:buNone/>
            </a:pPr>
            <a:r>
              <a:rPr lang="en-IN" sz="2400"/>
              <a:t>Gonçal-</a:t>
            </a:r>
            <a:r>
              <a:rPr lang="en-IN" sz="2400" err="1"/>
              <a:t>Modeling</a:t>
            </a:r>
            <a:r>
              <a:rPr lang="en-IN" sz="2400"/>
              <a:t> Earth Systems and </a:t>
            </a:r>
          </a:p>
          <a:p>
            <a:pPr>
              <a:buNone/>
            </a:pPr>
            <a:r>
              <a:rPr lang="en-IN" sz="2400"/>
              <a:t>Environment 7 (2), 669-681, 2021​1</a:t>
            </a:r>
          </a:p>
        </p:txBody>
      </p:sp>
    </p:spTree>
    <p:extLst>
      <p:ext uri="{BB962C8B-B14F-4D97-AF65-F5344CB8AC3E}">
        <p14:creationId xmlns:p14="http://schemas.microsoft.com/office/powerpoint/2010/main" val="2537771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C450-1898-78FC-7540-1A771C36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729D60-C0F7-3B43-4259-567CA92EFD3D}"/>
              </a:ext>
            </a:extLst>
          </p:cNvPr>
          <p:cNvSpPr txBox="1"/>
          <p:nvPr/>
        </p:nvSpPr>
        <p:spPr>
          <a:xfrm>
            <a:off x="3873909" y="38222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D1771-AD67-D67E-62C7-E2226FC43A5F}"/>
              </a:ext>
            </a:extLst>
          </p:cNvPr>
          <p:cNvSpPr txBox="1"/>
          <p:nvPr/>
        </p:nvSpPr>
        <p:spPr>
          <a:xfrm>
            <a:off x="4053807" y="77530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/>
              <a:t>══════════                                                                  </a:t>
            </a:r>
            <a:r>
              <a:rPr lang="en-IN" sz="5400" b="1"/>
              <a:t>THANK YOU ! </a:t>
            </a:r>
            <a:r>
              <a:rPr lang="en-IN" sz="5400"/>
              <a:t> ══════════</a:t>
            </a:r>
          </a:p>
          <a:p>
            <a:pPr>
              <a:buNone/>
            </a:pPr>
            <a:endParaRPr lang="en-IN" sz="54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35FEE9-5B98-AC5C-EB47-357098E610C3}"/>
              </a:ext>
            </a:extLst>
          </p:cNvPr>
          <p:cNvSpPr txBox="1"/>
          <p:nvPr/>
        </p:nvSpPr>
        <p:spPr>
          <a:xfrm>
            <a:off x="3205425" y="3647552"/>
            <a:ext cx="7124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APPLICATION OF AI&amp;ML FOR GROUNDWATER QUALITY  ANALYSIS</a:t>
            </a:r>
          </a:p>
          <a:p>
            <a:endParaRPr lang="en-IN" dirty="0"/>
          </a:p>
          <a:p>
            <a:r>
              <a:rPr lang="en-IN" dirty="0"/>
              <a:t>                                        BY: HARSHITHA R</a:t>
            </a:r>
          </a:p>
          <a:p>
            <a:r>
              <a:rPr lang="en-IN" dirty="0"/>
              <a:t>                                               KEERTHANA S A</a:t>
            </a:r>
          </a:p>
        </p:txBody>
      </p:sp>
    </p:spTree>
    <p:extLst>
      <p:ext uri="{BB962C8B-B14F-4D97-AF65-F5344CB8AC3E}">
        <p14:creationId xmlns:p14="http://schemas.microsoft.com/office/powerpoint/2010/main" val="363467752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{72853F7C-F265-4D5E-869E-DBBF60258684}TFc3084226-2d0c-440f-9f46-6b48c7a7f670e6ba4a85-fc4a2881d6b3</Template>
  <TotalTime>191</TotalTime>
  <Words>2003</Words>
  <Application>Microsoft Office PowerPoint</Application>
  <PresentationFormat>Widescreen</PresentationFormat>
  <Paragraphs>308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Franklin Gothic Book</vt:lpstr>
      <vt:lpstr>Times New Roman</vt:lpstr>
      <vt:lpstr>Crop</vt:lpstr>
      <vt:lpstr> University of agricultural sciences,banglore-560065    College of Agriculture, GKVK    EAI-421: AI &amp; ML in Agriculture (0+10)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 S A</dc:creator>
  <cp:lastModifiedBy>Keerthana S A</cp:lastModifiedBy>
  <cp:revision>2</cp:revision>
  <dcterms:created xsi:type="dcterms:W3CDTF">2026-04-13T09:58:26Z</dcterms:created>
  <dcterms:modified xsi:type="dcterms:W3CDTF">2026-04-16T03:52:20Z</dcterms:modified>
</cp:coreProperties>
</file>